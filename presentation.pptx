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14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63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134" y="3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8002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78C10D-89A4-E5A7-AC0F-481D6BE7B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EB3D95-97FF-335B-54CA-DEACF0F0BC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6E67DF-64D1-1849-8C8C-BFA313D83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5F7692-A122-1412-ED1E-6144C335A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799380-7424-4CDF-1455-691F819A2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3646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B2244D-247F-D05B-BEEF-575EDF6D6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F290B5-5749-2B95-99CE-FB63FDFF5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BF8576-C870-9F25-FB8C-EB57F759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E5DC67-1C73-66DC-7359-7311EAE7F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2FD85D-8346-80C6-2797-E4451F42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3293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DBBE12-1E5E-C721-722B-BFCD148E3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D96846-3576-1B0D-6DC0-A2F1F8868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A018F3-099C-DD36-5727-AAD3B51AF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7A69BA-288B-3AAE-21C1-EB7C32079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78F9EB-1B64-EBFD-64E3-6A25E9E3B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453622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1D9A59-321C-838B-571F-5FD733E94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8F6046-58A1-3D86-8B9D-73857567B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0F20807-CB67-8052-D7F4-C5919188E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183FBE-43D9-446C-477D-2D455365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710B5F-783D-86B0-5E40-24C89608B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D9D11C-18D9-4A16-90D5-3FE02234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82245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281820-2DEB-1E0C-DDCE-844042B97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857EBD-74B1-189B-73F0-B9A3E02D7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0142AB0-BC47-AFAD-3DF7-83C1C4D7A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C9E7D22-9AD7-11AC-30AD-744848EF7D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46961C-F869-7170-F5F3-3ACD849E64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203E900-A8CB-B9E5-B072-7F43F74D2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03D983-BE87-E191-722E-1D0F69270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7F2BA03-994E-63FF-D1E3-64BD7F401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7579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CDA3FD-42B8-F1BE-34BB-771E6D6FB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08DF88-2694-75A8-5059-BAEBAC978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1FC3485-6561-BDB2-BB04-00A5B4635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E0747E-257F-8E8D-6CBC-E362111B8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938091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329B031-1175-BCA9-FC96-44FE92724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C83BDBF-BB50-F060-49CF-8A582C4C0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18D1BB-8C59-0EB2-1048-F48C257D9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7442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FFF866-2E30-B0B0-A02A-500A15FE0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A902A9-FA40-E514-52C0-DE09D7451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7D751FB-E495-8825-5784-8C57B148D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0886B98-FFC7-1BB1-C692-13E2AAE1A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B39173-80E9-1CC3-A85C-F95AC3FE4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F7A9BC6-C49D-1F55-6460-92FCE8237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9401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527B8C-B016-967B-5707-6BF4E7443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766ACAF-63FB-6F71-18E2-680F42032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5AAFBC0-B9BE-B466-8ABB-AAE15DAD3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5D97BA-E3FD-9DFB-E41C-08222B649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56441AC-4684-1181-D4FE-4E3517D9F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5C9A3A-0C1D-D119-5FB6-72CDC980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712042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BAEBB5-F61E-A2C4-7DCF-F03649484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804448E-540C-24B1-82D0-3DF139C64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4138BA-B8D9-2153-AB46-DA831F32A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4CE511-AA6E-AA58-6916-3E7487A51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DC9537-D4F3-409F-6A35-CFBB4330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65123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6425A6D-9D19-B774-44AD-6F0C4D6FC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47B0398-0534-C292-62CF-8F0CAB521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092340-679C-A7F9-1239-0020CF53C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637B58-F2CC-A346-C223-EAC7EC7FD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1C206-7D31-152B-6259-29CEB6228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091903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19649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8678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834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7951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4035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C9A96C8-CDB5-65AB-C704-50756E8C7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C471E7A-1239-621A-05CD-7FA635390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3C02A4-02FD-FDF4-5FA9-CD77CCBBF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687BF6-C2C9-4C0C-A936-478B1776CA16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154F01-FF02-3239-E3ED-CA1765078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B19AAE-D33F-BA48-3C73-E1875FD89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8951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7" r:id="rId13"/>
    <p:sldLayoutId id="2147483928" r:id="rId14"/>
    <p:sldLayoutId id="2147483929" r:id="rId15"/>
    <p:sldLayoutId id="2147483930" r:id="rId16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789725B-A695-7D13-25B9-C8643B3A371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155324" y="413161"/>
            <a:ext cx="8786545" cy="403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algn="ctr">
              <a:buSzPct val="100000"/>
            </a:pPr>
            <a:r>
              <a:rPr lang="fr" sz="3600" dirty="0">
                <a:solidFill>
                  <a:schemeClr val="bg1"/>
                </a:solidFill>
                <a:cs typeface="Arial" panose="020B0604020202020204" pitchFamily="34" charset="0"/>
              </a:rPr>
              <a:t>Création et utilisation de la base de données</a:t>
            </a:r>
            <a:br>
              <a:rPr lang="fr" sz="2000" dirty="0">
                <a:solidFill>
                  <a:schemeClr val="bg1"/>
                </a:solidFill>
                <a:cs typeface="Arial" panose="020B0604020202020204" pitchFamily="34" charset="0"/>
              </a:rPr>
            </a:br>
            <a:r>
              <a:rPr lang="fr-FR" altLang="fr-FR" sz="2000" b="0" dirty="0">
                <a:solidFill>
                  <a:schemeClr val="bg1">
                    <a:lumMod val="85000"/>
                  </a:schemeClr>
                </a:solidFill>
                <a:cs typeface="Arial" panose="020B0604020202020204" pitchFamily="34" charset="0"/>
              </a:rPr>
              <a:t>Analyse du marché immobilier et démographique</a:t>
            </a:r>
            <a:br>
              <a:rPr lang="fr-FR" altLang="fr-FR" sz="2000" b="0" dirty="0">
                <a:solidFill>
                  <a:schemeClr val="tx2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</a:br>
            <a:br>
              <a:rPr lang="fr-FR" altLang="fr-FR" sz="2000" dirty="0">
                <a:solidFill>
                  <a:schemeClr val="tx2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</a:br>
            <a:br>
              <a:rPr lang="fr-FR" altLang="fr-FR" sz="2000" dirty="0">
                <a:solidFill>
                  <a:schemeClr val="tx2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</a:br>
            <a:br>
              <a:rPr lang="fr-FR" altLang="fr-FR" sz="2000" dirty="0">
                <a:solidFill>
                  <a:schemeClr val="tx2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</a:br>
            <a:br>
              <a:rPr lang="fr-FR" altLang="fr-FR" sz="2000" dirty="0">
                <a:solidFill>
                  <a:schemeClr val="tx2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</a:br>
            <a:br>
              <a:rPr lang="fr-FR" altLang="fr-FR" sz="2000" dirty="0">
                <a:solidFill>
                  <a:schemeClr val="tx2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</a:br>
            <a:br>
              <a:rPr lang="fr-FR" altLang="fr-FR" sz="2000" dirty="0">
                <a:solidFill>
                  <a:schemeClr val="tx2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</a:br>
            <a:br>
              <a:rPr lang="fr-FR" altLang="fr-FR" sz="2000" dirty="0">
                <a:solidFill>
                  <a:schemeClr val="tx2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</a:br>
            <a:br>
              <a:rPr lang="fr-FR" altLang="fr-FR" sz="1100" dirty="0">
                <a:solidFill>
                  <a:schemeClr val="tx2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</a:br>
            <a:r>
              <a:rPr lang="fr-FR" altLang="fr-FR" sz="1100" b="0" dirty="0">
                <a:solidFill>
                  <a:schemeClr val="bg1"/>
                </a:solidFill>
                <a:cs typeface="Arial" panose="020B0604020202020204" pitchFamily="34" charset="0"/>
              </a:rPr>
              <a:t>Josy ELICES-DIEZ</a:t>
            </a:r>
            <a:endParaRPr sz="24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" name="Google Shape;269;p34">
            <a:extLst>
              <a:ext uri="{FF2B5EF4-FFF2-40B4-BE49-F238E27FC236}">
                <a16:creationId xmlns:a16="http://schemas.microsoft.com/office/drawing/2014/main" id="{C8235D78-D3BB-EB30-2068-DAA4734B8456}"/>
              </a:ext>
            </a:extLst>
          </p:cNvPr>
          <p:cNvSpPr txBox="1">
            <a:spLocks/>
          </p:cNvSpPr>
          <p:nvPr/>
        </p:nvSpPr>
        <p:spPr>
          <a:xfrm>
            <a:off x="5734252" y="4657901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9" name="Google Shape;335;p41" descr="https://lh5.googleusercontent.com/TcdnvzxQ7ulQo8GiFwfIKujloK6EfAJv7ikP-EvnfdTVQnROS3WXw6XSx9Cpd73e_l7GCUAnbxroB-qlzG2fvYdCyl-Y5QZ95MpiD-GfDN-4taJyHRqsr3vOZzc3ONTBu52b0HIdUOMeHvdHiA_5tD0">
            <a:extLst>
              <a:ext uri="{FF2B5EF4-FFF2-40B4-BE49-F238E27FC236}">
                <a16:creationId xmlns:a16="http://schemas.microsoft.com/office/drawing/2014/main" id="{1A1EFC23-321A-BA5D-B150-CB3E39D880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387" t="12667" r="63940" b="13973"/>
          <a:stretch/>
        </p:blipFill>
        <p:spPr>
          <a:xfrm>
            <a:off x="3897934" y="2355638"/>
            <a:ext cx="1301324" cy="140897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006A5C71-67A0-3789-7C0B-CB86008A0522}"/>
              </a:ext>
            </a:extLst>
          </p:cNvPr>
          <p:cNvSpPr txBox="1"/>
          <p:nvPr/>
        </p:nvSpPr>
        <p:spPr>
          <a:xfrm>
            <a:off x="3628361" y="3384943"/>
            <a:ext cx="1887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altLang="fr-FR" sz="1800" b="1" dirty="0">
                <a:solidFill>
                  <a:srgbClr val="E26365"/>
                </a:solidFill>
                <a:latin typeface="+mj-lt"/>
                <a:cs typeface="Arial" panose="020B0604020202020204" pitchFamily="34" charset="0"/>
              </a:rPr>
              <a:t>Laplace </a:t>
            </a:r>
            <a:r>
              <a:rPr lang="fr-FR" altLang="fr-FR" sz="1800" b="1" dirty="0" err="1">
                <a:solidFill>
                  <a:srgbClr val="E26365"/>
                </a:solidFill>
                <a:latin typeface="+mj-lt"/>
                <a:cs typeface="Arial" panose="020B0604020202020204" pitchFamily="34" charset="0"/>
              </a:rPr>
              <a:t>Immo</a:t>
            </a:r>
            <a:endParaRPr lang="fr-FR" sz="1800" b="1" dirty="0">
              <a:solidFill>
                <a:srgbClr val="E26365"/>
              </a:solidFill>
              <a:latin typeface="+mj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3D0B1D8C-94DF-DACE-1334-F574E1390BC2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C83DC3-F06A-C2E8-6924-37DFD184C5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71363" y="1437242"/>
            <a:ext cx="724403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Objectif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Centraliser les données de ventes immobilières et démographiques de l'INSEE pour analyser le marché.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Problématique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Identifier les zones les plus dynamiques et les corrélations entre population et transactions.</a:t>
            </a:r>
            <a:endParaRPr lang="fr-FR" altLang="fr-FR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Outils utilisés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fr-FR" altLang="fr-FR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DBrowser</a:t>
            </a:r>
            <a:r>
              <a:rPr lang="fr-FR" altLang="fr-FR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pour la base de données,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DBeaver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pour les requêtes 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</p:txBody>
      </p:sp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xfrm>
            <a:off x="586513" y="134755"/>
            <a:ext cx="5506967" cy="471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2800" dirty="0">
                <a:solidFill>
                  <a:schemeClr val="bg1"/>
                </a:solidFill>
                <a:cs typeface="Arial" panose="020B0604020202020204" pitchFamily="34" charset="0"/>
              </a:rPr>
              <a:t>Contexte du projet</a:t>
            </a:r>
            <a:endParaRPr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latin typeface="+mj-lt"/>
                <a:cs typeface="Arial" panose="020B0604020202020204" pitchFamily="34" charset="0"/>
              </a:rPr>
              <a:t>2</a:t>
            </a:fld>
            <a:endParaRPr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BC45E1FA-AE8C-13F1-18CE-0027B4E1DAA1}"/>
              </a:ext>
            </a:extLst>
          </p:cNvPr>
          <p:cNvSpPr/>
          <p:nvPr/>
        </p:nvSpPr>
        <p:spPr>
          <a:xfrm>
            <a:off x="586513" y="1462073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277884"/>
          </a:solidFill>
          <a:ln/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endParaRPr lang="en-US" sz="16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D7A5CB4C-8C98-ACA7-066A-50ED7D118183}"/>
              </a:ext>
            </a:extLst>
          </p:cNvPr>
          <p:cNvSpPr/>
          <p:nvPr/>
        </p:nvSpPr>
        <p:spPr>
          <a:xfrm>
            <a:off x="870206" y="1547961"/>
            <a:ext cx="19461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780"/>
              </a:lnSpc>
            </a:pPr>
            <a:r>
              <a:rPr lang="en-US" sz="1600" b="1" dirty="0">
                <a:solidFill>
                  <a:srgbClr val="FFFFFF"/>
                </a:solidFill>
                <a:latin typeface="+mj-lt"/>
                <a:ea typeface="Trebuchet MS" pitchFamily="34" charset="-122"/>
                <a:cs typeface="Arial" panose="020B0604020202020204" pitchFamily="34" charset="0"/>
              </a:rPr>
              <a:t>1</a:t>
            </a:r>
            <a:endParaRPr lang="en-US" sz="16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75098C0-B96E-4946-91B0-EAA9559AB2F6}"/>
              </a:ext>
            </a:extLst>
          </p:cNvPr>
          <p:cNvSpPr/>
          <p:nvPr/>
        </p:nvSpPr>
        <p:spPr>
          <a:xfrm>
            <a:off x="586513" y="2535510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5EA8A7"/>
          </a:solidFill>
          <a:ln/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endParaRPr lang="en-US" sz="16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2426A05-CAF5-9299-CB29-5D9AAB7B1172}"/>
              </a:ext>
            </a:extLst>
          </p:cNvPr>
          <p:cNvSpPr/>
          <p:nvPr/>
        </p:nvSpPr>
        <p:spPr>
          <a:xfrm>
            <a:off x="870206" y="2621400"/>
            <a:ext cx="19461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780"/>
              </a:lnSpc>
            </a:pPr>
            <a:r>
              <a:rPr lang="en-US" sz="1600" b="1" dirty="0">
                <a:solidFill>
                  <a:srgbClr val="FFFFFF"/>
                </a:solidFill>
                <a:latin typeface="+mj-lt"/>
                <a:ea typeface="Trebuchet MS" pitchFamily="34" charset="-122"/>
                <a:cs typeface="Arial" panose="020B0604020202020204" pitchFamily="34" charset="0"/>
              </a:rPr>
              <a:t>2</a:t>
            </a:r>
            <a:endParaRPr lang="en-US" sz="16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179A7347-4BEB-7554-2D66-90DCD475D1B9}"/>
              </a:ext>
            </a:extLst>
          </p:cNvPr>
          <p:cNvSpPr/>
          <p:nvPr/>
        </p:nvSpPr>
        <p:spPr>
          <a:xfrm>
            <a:off x="586513" y="3608948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4ECDC4"/>
          </a:solidFill>
          <a:ln/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endParaRPr lang="en-US" sz="16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3559899A-777D-EEC5-092C-CFFB8F6CB63B}"/>
              </a:ext>
            </a:extLst>
          </p:cNvPr>
          <p:cNvSpPr/>
          <p:nvPr/>
        </p:nvSpPr>
        <p:spPr>
          <a:xfrm>
            <a:off x="870206" y="3694838"/>
            <a:ext cx="19461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780"/>
              </a:lnSpc>
            </a:pPr>
            <a:r>
              <a:rPr lang="en-US" sz="1600" b="1" dirty="0">
                <a:solidFill>
                  <a:srgbClr val="FFFFFF"/>
                </a:solidFill>
                <a:latin typeface="+mj-lt"/>
                <a:ea typeface="Trebuchet MS" pitchFamily="34" charset="-122"/>
                <a:cs typeface="Arial" panose="020B0604020202020204" pitchFamily="34" charset="0"/>
              </a:rPr>
              <a:t>3</a:t>
            </a:r>
            <a:endParaRPr lang="en-US" sz="1600" dirty="0">
              <a:latin typeface="+mj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BD030126-5D5C-A10B-E7B3-E5780E28CC26}"/>
              </a:ext>
            </a:extLst>
          </p:cNvPr>
          <p:cNvSpPr/>
          <p:nvPr/>
        </p:nvSpPr>
        <p:spPr>
          <a:xfrm>
            <a:off x="0" y="0"/>
            <a:ext cx="9144000" cy="760396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7B1F6C-5A60-CB37-5ABE-2914BB44E3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27629" y="1191746"/>
            <a:ext cx="838776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Sauvegarde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Export des scripts .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sql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 </a:t>
            </a:r>
            <a:endParaRPr lang="fr-FR" altLang="fr-FR" sz="1800" b="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Sauvegarde de la base .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db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sur un stockage sécurisé (Cloud privé).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RGPD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1800" b="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Anonymisation des données : noms des acheteurs/vendeurs non stockés, géolocalisation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suprimée</a:t>
            </a:r>
            <a:r>
              <a:rPr lang="fr-FR" altLang="fr-FR" sz="1800" b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fr-FR" altLang="fr-FR" sz="1800" b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onnées utilisées exclusivement pour des analyses statistiques.</a:t>
            </a:r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+mj-lt"/>
                <a:ea typeface="Calibri"/>
                <a:cs typeface="Arial" panose="020B0604020202020204" pitchFamily="34" charset="0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+mj-lt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253897" y="154430"/>
            <a:ext cx="8754992" cy="44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sz="2800" dirty="0">
                <a:solidFill>
                  <a:schemeClr val="bg1"/>
                </a:solidFill>
                <a:cs typeface="Arial" panose="020B0604020202020204" pitchFamily="34" charset="0"/>
              </a:rPr>
              <a:t>La stratégie de sauvegarde et la conformité RGPD</a:t>
            </a:r>
            <a:endParaRPr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7B2B4D4E-FB0A-9E27-3CF1-38B31F73C603}"/>
              </a:ext>
            </a:extLst>
          </p:cNvPr>
          <p:cNvSpPr/>
          <p:nvPr/>
        </p:nvSpPr>
        <p:spPr>
          <a:xfrm>
            <a:off x="0" y="0"/>
            <a:ext cx="9144000" cy="721895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97A0F4-C64B-80C0-7A72-8C37B396B5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0525" y="1362863"/>
            <a:ext cx="796970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Sources :</a:t>
            </a:r>
            <a:endParaRPr lang="fr-FR" altLang="fr-FR" sz="1800" b="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communes</a:t>
            </a:r>
            <a:r>
              <a:rPr lang="fr-FR" altLang="fr-FR" sz="1800" b="0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,xlsx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: Données de population INSEE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fr-FR" altLang="fr-FR" sz="1800" b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valeurs_foncieres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.</a:t>
            </a:r>
            <a:r>
              <a:rPr lang="fr-FR" altLang="fr-FR" sz="1800" b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xlsx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: Historique des ventes immobilières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fr-FR" altLang="fr-FR" sz="1800" b="0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referentiel_geographique,xlsx</a:t>
            </a:r>
            <a:r>
              <a:rPr lang="fr-FR" altLang="fr-FR" sz="1800" b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: Données géographique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Nettoyage effectué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742950" lvl="1" indent="-2857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fr-FR" altLang="fr-FR" sz="1800" b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Unification des codes INSEE (5 à 6 chiffres) pour création PK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fr-FR" altLang="fr-FR" sz="1800" b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orrection des codes départements (Aisne 02, Corse 2A/2B)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fr-FR" altLang="fr-FR" sz="1800" b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Traitement des dates au format AAAA/MM/JJ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</p:txBody>
      </p:sp>
      <p:sp>
        <p:nvSpPr>
          <p:cNvPr id="287" name="Google Shape;287;p36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>
              <a:latin typeface="+mj-lt"/>
              <a:cs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+mj-lt"/>
                <a:ea typeface="Calibri"/>
                <a:cs typeface="Arial" panose="020B0604020202020204" pitchFamily="34" charset="0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+mj-lt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390525" y="102393"/>
            <a:ext cx="4689794" cy="449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2800" dirty="0">
                <a:solidFill>
                  <a:schemeClr val="bg1"/>
                </a:solidFill>
                <a:cs typeface="Arial" panose="020B0604020202020204" pitchFamily="34" charset="0"/>
              </a:rPr>
              <a:t>Les données initiales</a:t>
            </a:r>
            <a:endParaRPr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0764DEF7-C479-01AD-6D6A-0A044A4F5E0A}"/>
              </a:ext>
            </a:extLst>
          </p:cNvPr>
          <p:cNvSpPr/>
          <p:nvPr/>
        </p:nvSpPr>
        <p:spPr>
          <a:xfrm>
            <a:off x="0" y="0"/>
            <a:ext cx="9144000" cy="702644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+mj-lt"/>
                <a:ea typeface="Calibri"/>
                <a:cs typeface="Arial" panose="020B0604020202020204" pitchFamily="34" charset="0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+mj-lt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389008" y="102393"/>
            <a:ext cx="7349704" cy="485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sz="2800" dirty="0">
                <a:solidFill>
                  <a:schemeClr val="bg1"/>
                </a:solidFill>
                <a:cs typeface="Arial" panose="020B0604020202020204" pitchFamily="34" charset="0"/>
              </a:rPr>
              <a:t>L’extrait du dictionnaire des données</a:t>
            </a:r>
            <a:endParaRPr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3" name="Image 2" descr="Une image contenant texte, logiciel, Icône d’ordinateur, Page web&#10;&#10;Le contenu généré par l’IA peut être incorrect.">
            <a:extLst>
              <a:ext uri="{FF2B5EF4-FFF2-40B4-BE49-F238E27FC236}">
                <a16:creationId xmlns:a16="http://schemas.microsoft.com/office/drawing/2014/main" id="{B9D472C5-6631-3424-686E-4BFA700BA0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68" t="26012" r="20422" b="27953"/>
          <a:stretch>
            <a:fillRect/>
          </a:stretch>
        </p:blipFill>
        <p:spPr>
          <a:xfrm>
            <a:off x="57751" y="1077602"/>
            <a:ext cx="9028498" cy="35750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484953AE-5683-B8FB-60A6-17B034B08818}"/>
              </a:ext>
            </a:extLst>
          </p:cNvPr>
          <p:cNvSpPr/>
          <p:nvPr/>
        </p:nvSpPr>
        <p:spPr>
          <a:xfrm>
            <a:off x="0" y="-1"/>
            <a:ext cx="9144000" cy="693019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body" idx="1"/>
          </p:nvPr>
        </p:nvSpPr>
        <p:spPr>
          <a:xfrm>
            <a:off x="6343047" y="1041784"/>
            <a:ext cx="2473693" cy="33767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>
              <a:spcBef>
                <a:spcPts val="0"/>
              </a:spcBef>
            </a:pPr>
            <a:endParaRPr lang="fr-FR" sz="1800" b="0" dirty="0">
              <a:latin typeface="+mj-lt"/>
              <a:cs typeface="Arial" panose="020B0604020202020204" pitchFamily="34" charset="0"/>
            </a:endParaRPr>
          </a:p>
          <a:p>
            <a:pPr marL="0" lvl="0" indent="0" algn="ctr">
              <a:spcBef>
                <a:spcPts val="0"/>
              </a:spcBef>
            </a:pPr>
            <a:r>
              <a:rPr lang="fr-FR" sz="1800" b="0" dirty="0">
                <a:latin typeface="+mj-lt"/>
                <a:cs typeface="Arial" panose="020B0604020202020204" pitchFamily="34" charset="0"/>
              </a:rPr>
              <a:t>Relation 1:N entre les tables </a:t>
            </a:r>
          </a:p>
          <a:p>
            <a:pPr marL="285750" lvl="0" indent="-285750" algn="ctr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fr-FR" sz="1800" b="0" dirty="0">
              <a:latin typeface="+mj-lt"/>
              <a:cs typeface="Arial" panose="020B0604020202020204" pitchFamily="34" charset="0"/>
            </a:endParaRPr>
          </a:p>
          <a:p>
            <a:pPr marL="0" lvl="0" indent="0" algn="ctr">
              <a:spcBef>
                <a:spcPts val="0"/>
              </a:spcBef>
            </a:pPr>
            <a:r>
              <a:rPr lang="fr-FR" sz="1800" b="0" dirty="0">
                <a:latin typeface="+mj-lt"/>
                <a:cs typeface="Arial" panose="020B0604020202020204" pitchFamily="34" charset="0"/>
              </a:rPr>
              <a:t>Normalisation en 3NF</a:t>
            </a:r>
          </a:p>
          <a:p>
            <a:pPr marL="0" lvl="0" indent="0" algn="ctr">
              <a:spcBef>
                <a:spcPts val="0"/>
              </a:spcBef>
            </a:pPr>
            <a:r>
              <a:rPr lang="fr-FR" sz="1800" b="0" dirty="0">
                <a:latin typeface="+mj-lt"/>
                <a:cs typeface="Arial" panose="020B0604020202020204" pitchFamily="34" charset="0"/>
              </a:rPr>
              <a:t>pour éviter la redondance.</a:t>
            </a:r>
          </a:p>
          <a:p>
            <a:pPr marL="285750" lvl="0" indent="-285750" algn="ctr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fr-FR" sz="1800" b="0" dirty="0">
              <a:latin typeface="+mj-lt"/>
              <a:cs typeface="Arial" panose="020B0604020202020204" pitchFamily="34" charset="0"/>
            </a:endParaRPr>
          </a:p>
          <a:p>
            <a:pPr marL="0" lvl="0" indent="0" algn="ctr">
              <a:spcBef>
                <a:spcPts val="0"/>
              </a:spcBef>
            </a:pPr>
            <a:r>
              <a:rPr lang="fr-FR" sz="1800" b="0" dirty="0">
                <a:latin typeface="+mj-lt"/>
                <a:cs typeface="Arial" panose="020B0604020202020204" pitchFamily="34" charset="0"/>
              </a:rPr>
              <a:t>Création de PK et FK pour liaison entre les tables </a:t>
            </a:r>
            <a:endParaRPr sz="1800" b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+mj-lt"/>
                <a:ea typeface="Calibri"/>
                <a:cs typeface="Arial" panose="020B0604020202020204" pitchFamily="34" charset="0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+mj-lt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379383" y="52587"/>
            <a:ext cx="7763590" cy="49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sz="2800" dirty="0">
                <a:solidFill>
                  <a:schemeClr val="bg1"/>
                </a:solidFill>
                <a:cs typeface="Arial" panose="020B0604020202020204" pitchFamily="34" charset="0"/>
              </a:rPr>
              <a:t>Le schéma relationnel normalisé</a:t>
            </a:r>
            <a:endParaRPr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4" name="Image 3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ED3CE033-DDF3-68A9-950B-0E3B89EB8B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69" t="13474" r="49052" b="52093"/>
          <a:stretch>
            <a:fillRect/>
          </a:stretch>
        </p:blipFill>
        <p:spPr>
          <a:xfrm>
            <a:off x="221381" y="1041784"/>
            <a:ext cx="5582653" cy="33767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>
            <a:extLst>
              <a:ext uri="{FF2B5EF4-FFF2-40B4-BE49-F238E27FC236}">
                <a16:creationId xmlns:a16="http://schemas.microsoft.com/office/drawing/2014/main" id="{F30FE3EB-5375-FF8B-40C0-BF99F5EB77E2}"/>
              </a:ext>
            </a:extLst>
          </p:cNvPr>
          <p:cNvSpPr/>
          <p:nvPr/>
        </p:nvSpPr>
        <p:spPr>
          <a:xfrm>
            <a:off x="0" y="0"/>
            <a:ext cx="9144000" cy="77363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+mj-lt"/>
                <a:ea typeface="Calibri"/>
                <a:cs typeface="Arial" panose="020B0604020202020204" pitchFamily="34" charset="0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+mj-lt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389008" y="69873"/>
            <a:ext cx="8637813" cy="545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sz="2800" dirty="0">
                <a:solidFill>
                  <a:schemeClr val="bg1"/>
                </a:solidFill>
                <a:cs typeface="Arial" panose="020B0604020202020204" pitchFamily="34" charset="0"/>
              </a:rPr>
              <a:t>La BDD avec tables créées et données chargées</a:t>
            </a:r>
            <a:endParaRPr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B85AB15-C344-7262-F587-AF39DDCAF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497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497A20C7-FB37-CE71-22B3-51F0DE2CF90E}"/>
              </a:ext>
            </a:extLst>
          </p:cNvPr>
          <p:cNvSpPr/>
          <p:nvPr/>
        </p:nvSpPr>
        <p:spPr>
          <a:xfrm>
            <a:off x="7049645" y="1230828"/>
            <a:ext cx="1588168" cy="1521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altLang="fr-FR" sz="20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~ 35 000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altLang="fr-FR" sz="28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fr-FR" altLang="fr-FR" sz="16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communes importées</a:t>
            </a:r>
            <a:endParaRPr lang="fr-FR" altLang="fr-FR" sz="28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02E506AF-9DE3-6C82-0688-CCFC199844AD}"/>
              </a:ext>
            </a:extLst>
          </p:cNvPr>
          <p:cNvSpPr/>
          <p:nvPr/>
        </p:nvSpPr>
        <p:spPr>
          <a:xfrm>
            <a:off x="7049645" y="3087602"/>
            <a:ext cx="1588168" cy="1521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altLang="fr-FR" sz="20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109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altLang="fr-FR" sz="28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fr-FR" altLang="fr-FR" sz="16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départements </a:t>
            </a:r>
            <a:r>
              <a:rPr lang="fr-FR" altLang="fr-FR" sz="12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France + DOM/TOM</a:t>
            </a:r>
            <a:endParaRPr lang="fr-FR" altLang="fr-FR" sz="16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3" name="Image 2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F67937AF-BEB5-DD13-2560-226B457EFB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18" r="90316" b="63884"/>
          <a:stretch>
            <a:fillRect/>
          </a:stretch>
        </p:blipFill>
        <p:spPr>
          <a:xfrm>
            <a:off x="349776" y="1160426"/>
            <a:ext cx="1588168" cy="2201879"/>
          </a:xfrm>
          <a:prstGeom prst="rect">
            <a:avLst/>
          </a:prstGeom>
        </p:spPr>
      </p:pic>
      <p:pic>
        <p:nvPicPr>
          <p:cNvPr id="6" name="Image 5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1802F06E-BBD1-F3AA-A008-8528FF9320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84" t="16399" r="33473" b="13169"/>
          <a:stretch>
            <a:fillRect/>
          </a:stretch>
        </p:blipFill>
        <p:spPr>
          <a:xfrm>
            <a:off x="2587175" y="843503"/>
            <a:ext cx="3638350" cy="41370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74788BCE-2699-4784-F9E0-0C0934BF70E4}"/>
              </a:ext>
            </a:extLst>
          </p:cNvPr>
          <p:cNvSpPr/>
          <p:nvPr/>
        </p:nvSpPr>
        <p:spPr>
          <a:xfrm>
            <a:off x="0" y="0"/>
            <a:ext cx="9144000" cy="87471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23" name="Google Shape;323;p40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+mj-lt"/>
                <a:ea typeface="Calibri"/>
                <a:cs typeface="Arial" panose="020B0604020202020204" pitchFamily="34" charset="0"/>
                <a:sym typeface="Calibri"/>
              </a:rPr>
              <a:t>8</a:t>
            </a:r>
            <a:endParaRPr lang="fr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324" name="Google Shape;324;p4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 smtClean="0">
                <a:solidFill>
                  <a:srgbClr val="9E9E9E"/>
                </a:solidFill>
                <a:latin typeface="+mj-lt"/>
                <a:ea typeface="Calibri"/>
                <a:cs typeface="Arial" panose="020B0604020202020204" pitchFamily="34" charset="0"/>
                <a:sym typeface="Calibri"/>
              </a:rPr>
              <a:t>8</a:t>
            </a:fld>
            <a:endParaRPr lang="fr" sz="900" b="0" i="0" u="none" strike="noStrike" cap="none">
              <a:solidFill>
                <a:srgbClr val="9E9E9E"/>
              </a:solidFill>
              <a:latin typeface="+mj-lt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389008" y="84538"/>
            <a:ext cx="8071598" cy="717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-FR" sz="2400" dirty="0">
                <a:solidFill>
                  <a:schemeClr val="bg1"/>
                </a:solidFill>
                <a:cs typeface="Arial" panose="020B0604020202020204" pitchFamily="34" charset="0"/>
              </a:rPr>
              <a:t>Les requêtes qui permettent de démontrer le chargement des données</a:t>
            </a:r>
          </a:p>
        </p:txBody>
      </p:sp>
      <p:pic>
        <p:nvPicPr>
          <p:cNvPr id="7" name="Image 6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F3274624-5BC9-D208-2B3D-7A944D45D7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6" t="11790" r="66845" b="24082"/>
          <a:stretch>
            <a:fillRect/>
          </a:stretch>
        </p:blipFill>
        <p:spPr>
          <a:xfrm>
            <a:off x="5359724" y="1011640"/>
            <a:ext cx="3278089" cy="3892545"/>
          </a:xfrm>
          <a:prstGeom prst="rect">
            <a:avLst/>
          </a:prstGeom>
        </p:spPr>
      </p:pic>
      <p:pic>
        <p:nvPicPr>
          <p:cNvPr id="3" name="Image 2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FA45567E-49EB-642F-7723-EEC1074CE9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790" t="11228" r="26947" b="30573"/>
          <a:stretch>
            <a:fillRect/>
          </a:stretch>
        </p:blipFill>
        <p:spPr>
          <a:xfrm>
            <a:off x="389008" y="1113599"/>
            <a:ext cx="4423981" cy="36886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42BF45-004C-ED0D-BFCA-6BBC13A9089F}"/>
              </a:ext>
            </a:extLst>
          </p:cNvPr>
          <p:cNvSpPr/>
          <p:nvPr/>
        </p:nvSpPr>
        <p:spPr>
          <a:xfrm>
            <a:off x="0" y="-102393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4273618" y="1490565"/>
            <a:ext cx="4122990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sz="3600" dirty="0">
                <a:solidFill>
                  <a:schemeClr val="bg1"/>
                </a:solidFill>
                <a:latin typeface="+mj-lt"/>
                <a:cs typeface="Arial" panose="020B0604020202020204" pitchFamily="34" charset="0"/>
                <a:sym typeface="Calibri"/>
              </a:rPr>
              <a:t>Requêtes SQL et résultats</a:t>
            </a:r>
            <a:endParaRPr sz="3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34" name="Google Shape;334;p41"/>
          <p:cNvSpPr txBox="1">
            <a:spLocks noGrp="1"/>
          </p:cNvSpPr>
          <p:nvPr>
            <p:ph type="body" idx="1"/>
          </p:nvPr>
        </p:nvSpPr>
        <p:spPr>
          <a:xfrm>
            <a:off x="4385623" y="2938078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cs typeface="Arial" panose="020B0604020202020204" pitchFamily="34" charset="0"/>
              </a:rPr>
              <a:t>12 requêtes réalisées avec D</a:t>
            </a:r>
            <a:r>
              <a:rPr lang="fr-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cs typeface="Arial" panose="020B0604020202020204" pitchFamily="34" charset="0"/>
              </a:rPr>
              <a:t>B</a:t>
            </a:r>
            <a:r>
              <a:rPr lang="fr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cs typeface="Arial" panose="020B0604020202020204" pitchFamily="34" charset="0"/>
              </a:rPr>
              <a:t>eaver </a:t>
            </a:r>
            <a:endParaRPr sz="1600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-2331072" y="513328"/>
            <a:ext cx="4617595" cy="3795728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accent1">
                  <a:lumMod val="60000"/>
                  <a:lumOff val="40000"/>
                </a:schemeClr>
              </a:solidFill>
              <a:latin typeface="+mj-lt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3">
            <a:alphaModFix/>
          </a:blip>
          <a:srcRect l="11387" t="12667" r="63940" b="13973"/>
          <a:stretch/>
        </p:blipFill>
        <p:spPr>
          <a:xfrm>
            <a:off x="2046585" y="1406117"/>
            <a:ext cx="1997049" cy="212647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23;p40">
            <a:extLst>
              <a:ext uri="{FF2B5EF4-FFF2-40B4-BE49-F238E27FC236}">
                <a16:creationId xmlns:a16="http://schemas.microsoft.com/office/drawing/2014/main" id="{970F4782-FBE3-209F-E142-DD0D1C1130F9}"/>
              </a:ext>
            </a:extLst>
          </p:cNvPr>
          <p:cNvSpPr txBox="1">
            <a:spLocks/>
          </p:cNvSpPr>
          <p:nvPr/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" sz="900" dirty="0">
                <a:solidFill>
                  <a:srgbClr val="9E9E9E"/>
                </a:solidFill>
                <a:latin typeface="+mj-lt"/>
                <a:cs typeface="Arial" panose="020B0604020202020204" pitchFamily="34" charset="0"/>
                <a:sym typeface="Calibri"/>
              </a:rPr>
              <a:t>9</a:t>
            </a:r>
            <a:endParaRPr lang="fr" dirty="0">
              <a:latin typeface="+mj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256982A-D95A-E69C-39CF-A3FE30BEDF20}"/>
              </a:ext>
            </a:extLst>
          </p:cNvPr>
          <p:cNvSpPr/>
          <p:nvPr/>
        </p:nvSpPr>
        <p:spPr>
          <a:xfrm>
            <a:off x="0" y="0"/>
            <a:ext cx="9144000" cy="71226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latin typeface="+mj-lt"/>
                <a:cs typeface="Arial" panose="020B0604020202020204" pitchFamily="34" charset="0"/>
              </a:rPr>
              <a:t>10</a:t>
            </a:fld>
            <a:endParaRPr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297640" y="124788"/>
            <a:ext cx="10183845" cy="462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2200" b="0" dirty="0">
                <a:solidFill>
                  <a:schemeClr val="tx1"/>
                </a:solidFill>
                <a:cs typeface="Arial" panose="020B0604020202020204" pitchFamily="34" charset="0"/>
              </a:rPr>
              <a:t>1. Nombre total d’appartements vendus au 1</a:t>
            </a:r>
            <a:r>
              <a:rPr lang="fr" sz="2200" b="0" baseline="30000" dirty="0">
                <a:solidFill>
                  <a:schemeClr val="tx1"/>
                </a:solidFill>
                <a:cs typeface="Arial" panose="020B0604020202020204" pitchFamily="34" charset="0"/>
              </a:rPr>
              <a:t>er</a:t>
            </a:r>
            <a:r>
              <a:rPr lang="fr" sz="2200" b="0" dirty="0">
                <a:solidFill>
                  <a:schemeClr val="tx1"/>
                </a:solidFill>
                <a:cs typeface="Arial" panose="020B0604020202020204" pitchFamily="34" charset="0"/>
              </a:rPr>
              <a:t> semestre 2020</a:t>
            </a:r>
            <a:endParaRPr sz="22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4" name="Image 3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3BBD09FA-E7E5-66EF-DA84-329E838ADA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48" t="12364" r="46421" b="38929"/>
          <a:stretch>
            <a:fillRect/>
          </a:stretch>
        </p:blipFill>
        <p:spPr>
          <a:xfrm>
            <a:off x="1808193" y="906807"/>
            <a:ext cx="5527613" cy="4134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80EA9C08-5A7B-C3AA-0A0F-D4C0FA39FA3F}"/>
              </a:ext>
            </a:extLst>
          </p:cNvPr>
          <p:cNvSpPr/>
          <p:nvPr/>
        </p:nvSpPr>
        <p:spPr>
          <a:xfrm>
            <a:off x="0" y="0"/>
            <a:ext cx="9144000" cy="65649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7" name="Google Shape;344;p42">
            <a:extLst>
              <a:ext uri="{FF2B5EF4-FFF2-40B4-BE49-F238E27FC236}">
                <a16:creationId xmlns:a16="http://schemas.microsoft.com/office/drawing/2014/main" id="{5FFED9BB-95E7-3609-6408-59F5BBC9EDC0}"/>
              </a:ext>
            </a:extLst>
          </p:cNvPr>
          <p:cNvSpPr txBox="1">
            <a:spLocks/>
          </p:cNvSpPr>
          <p:nvPr/>
        </p:nvSpPr>
        <p:spPr>
          <a:xfrm>
            <a:off x="168072" y="212640"/>
            <a:ext cx="8807856" cy="443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SzPts val="1500"/>
              <a:buFont typeface="Arial" panose="020B0604020202020204" pitchFamily="34" charset="0"/>
              <a:buNone/>
            </a:pPr>
            <a:r>
              <a:rPr lang="fr-FR" sz="2200" dirty="0">
                <a:latin typeface="+mj-lt"/>
                <a:cs typeface="Arial" panose="020B0604020202020204" pitchFamily="34" charset="0"/>
              </a:rPr>
              <a:t>2. Le nombre de ventes d’appartements par région pour le 1</a:t>
            </a:r>
            <a:r>
              <a:rPr lang="fr-FR" sz="2200" baseline="30000" dirty="0">
                <a:latin typeface="+mj-lt"/>
                <a:cs typeface="Arial" panose="020B0604020202020204" pitchFamily="34" charset="0"/>
              </a:rPr>
              <a:t>er</a:t>
            </a:r>
            <a:r>
              <a:rPr lang="fr-FR" sz="2200" dirty="0">
                <a:latin typeface="+mj-lt"/>
                <a:cs typeface="Arial" panose="020B0604020202020204" pitchFamily="34" charset="0"/>
              </a:rPr>
              <a:t> semestre 2020</a:t>
            </a:r>
          </a:p>
        </p:txBody>
      </p:sp>
      <p:pic>
        <p:nvPicPr>
          <p:cNvPr id="2" name="Image 1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310FC5D4-02C9-5574-89C4-02A727F639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35" t="12125" r="46167" b="21216"/>
          <a:stretch>
            <a:fillRect/>
          </a:stretch>
        </p:blipFill>
        <p:spPr>
          <a:xfrm>
            <a:off x="2306854" y="752991"/>
            <a:ext cx="3988067" cy="4030766"/>
          </a:xfrm>
          <a:prstGeom prst="rect">
            <a:avLst/>
          </a:prstGeom>
        </p:spPr>
      </p:pic>
      <p:sp>
        <p:nvSpPr>
          <p:cNvPr id="3" name="Google Shape;343;p42">
            <a:extLst>
              <a:ext uri="{FF2B5EF4-FFF2-40B4-BE49-F238E27FC236}">
                <a16:creationId xmlns:a16="http://schemas.microsoft.com/office/drawing/2014/main" id="{EAE93096-7C15-DDCA-11B2-9EF3968F9B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76888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latin typeface="+mj-lt"/>
                <a:cs typeface="Arial" panose="020B0604020202020204" pitchFamily="34" charset="0"/>
              </a:rPr>
              <a:t>11</a:t>
            </a:fld>
            <a:endParaRPr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989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>
            <a:extLst>
              <a:ext uri="{FF2B5EF4-FFF2-40B4-BE49-F238E27FC236}">
                <a16:creationId xmlns:a16="http://schemas.microsoft.com/office/drawing/2014/main" id="{5FFA2652-4D98-3926-A788-83A0A828EA6C}"/>
              </a:ext>
            </a:extLst>
          </p:cNvPr>
          <p:cNvSpPr/>
          <p:nvPr/>
        </p:nvSpPr>
        <p:spPr>
          <a:xfrm>
            <a:off x="0" y="0"/>
            <a:ext cx="9144000" cy="61515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8" name="Google Shape;344;p42">
            <a:extLst>
              <a:ext uri="{FF2B5EF4-FFF2-40B4-BE49-F238E27FC236}">
                <a16:creationId xmlns:a16="http://schemas.microsoft.com/office/drawing/2014/main" id="{5D6ACC4F-ACC9-9229-28D5-28EFCA5414AA}"/>
              </a:ext>
            </a:extLst>
          </p:cNvPr>
          <p:cNvSpPr txBox="1">
            <a:spLocks/>
          </p:cNvSpPr>
          <p:nvPr/>
        </p:nvSpPr>
        <p:spPr>
          <a:xfrm>
            <a:off x="307141" y="158479"/>
            <a:ext cx="894236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SzPts val="1500"/>
              <a:buFont typeface="Arial" panose="020B0604020202020204" pitchFamily="34" charset="0"/>
              <a:buNone/>
            </a:pPr>
            <a:r>
              <a:rPr lang="fr-FR" sz="2000" dirty="0">
                <a:latin typeface="+mj-lt"/>
                <a:cs typeface="Arial" panose="020B0604020202020204" pitchFamily="34" charset="0"/>
              </a:rPr>
              <a:t>3. Proportion des ventes d’appartements par le nombre de pièces </a:t>
            </a:r>
          </a:p>
        </p:txBody>
      </p:sp>
      <p:pic>
        <p:nvPicPr>
          <p:cNvPr id="9" name="Image 8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11564F1C-A494-76D6-DB2F-2A54CA86DB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63" t="13907" r="26421" b="28701"/>
          <a:stretch>
            <a:fillRect/>
          </a:stretch>
        </p:blipFill>
        <p:spPr>
          <a:xfrm>
            <a:off x="1777817" y="1172435"/>
            <a:ext cx="5768390" cy="3271801"/>
          </a:xfrm>
          <a:prstGeom prst="rect">
            <a:avLst/>
          </a:prstGeom>
        </p:spPr>
      </p:pic>
      <p:sp>
        <p:nvSpPr>
          <p:cNvPr id="2" name="Google Shape;343;p42">
            <a:extLst>
              <a:ext uri="{FF2B5EF4-FFF2-40B4-BE49-F238E27FC236}">
                <a16:creationId xmlns:a16="http://schemas.microsoft.com/office/drawing/2014/main" id="{9B9B751E-919D-4CAB-70A8-15D8267EF1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latin typeface="+mj-lt"/>
                <a:cs typeface="Arial" panose="020B0604020202020204" pitchFamily="34" charset="0"/>
              </a:rPr>
              <a:t>12</a:t>
            </a:fld>
            <a:endParaRPr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535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2067812-3554-B778-9F67-5B2498D47EE5}"/>
              </a:ext>
            </a:extLst>
          </p:cNvPr>
          <p:cNvSpPr/>
          <p:nvPr/>
        </p:nvSpPr>
        <p:spPr>
          <a:xfrm>
            <a:off x="0" y="0"/>
            <a:ext cx="9144000" cy="63526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Google Shape;341;p42">
            <a:extLst>
              <a:ext uri="{FF2B5EF4-FFF2-40B4-BE49-F238E27FC236}">
                <a16:creationId xmlns:a16="http://schemas.microsoft.com/office/drawing/2014/main" id="{D9929A25-9F16-4842-11AA-484930BF2753}"/>
              </a:ext>
            </a:extLst>
          </p:cNvPr>
          <p:cNvSpPr txBox="1">
            <a:spLocks/>
          </p:cNvSpPr>
          <p:nvPr/>
        </p:nvSpPr>
        <p:spPr>
          <a:xfrm>
            <a:off x="275642" y="102393"/>
            <a:ext cx="8284707" cy="38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accent1"/>
              </a:buClr>
              <a:buSzPts val="3300"/>
              <a:buFont typeface="Calibri"/>
              <a:buNone/>
            </a:pPr>
            <a:r>
              <a:rPr lang="fr-FR" sz="2000" dirty="0">
                <a:cs typeface="Arial" panose="020B0604020202020204" pitchFamily="34" charset="0"/>
              </a:rPr>
              <a:t>4. Liste des 10 départements où le prix de m2 est le plus élevé</a:t>
            </a:r>
          </a:p>
        </p:txBody>
      </p:sp>
      <p:pic>
        <p:nvPicPr>
          <p:cNvPr id="3" name="Image 2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EA7D6A60-4E95-AE02-C165-0EFBCA7442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34" t="14251" r="44555" b="32595"/>
          <a:stretch>
            <a:fillRect/>
          </a:stretch>
        </p:blipFill>
        <p:spPr>
          <a:xfrm>
            <a:off x="2122012" y="984416"/>
            <a:ext cx="4899976" cy="3755476"/>
          </a:xfrm>
          <a:prstGeom prst="rect">
            <a:avLst/>
          </a:prstGeom>
        </p:spPr>
      </p:pic>
      <p:sp>
        <p:nvSpPr>
          <p:cNvPr id="5" name="Google Shape;343;p42">
            <a:extLst>
              <a:ext uri="{FF2B5EF4-FFF2-40B4-BE49-F238E27FC236}">
                <a16:creationId xmlns:a16="http://schemas.microsoft.com/office/drawing/2014/main" id="{F5C4A5DA-E2CD-E1DA-EA41-368F0CB3AA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latin typeface="+mj-lt"/>
                <a:cs typeface="Arial" panose="020B0604020202020204" pitchFamily="34" charset="0"/>
              </a:rPr>
              <a:t>13</a:t>
            </a:fld>
            <a:endParaRPr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979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066929-1C4F-73C6-30EE-C7B12FC52965}"/>
              </a:ext>
            </a:extLst>
          </p:cNvPr>
          <p:cNvSpPr/>
          <p:nvPr/>
        </p:nvSpPr>
        <p:spPr>
          <a:xfrm>
            <a:off x="0" y="0"/>
            <a:ext cx="9144000" cy="59676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Google Shape;341;p42">
            <a:extLst>
              <a:ext uri="{FF2B5EF4-FFF2-40B4-BE49-F238E27FC236}">
                <a16:creationId xmlns:a16="http://schemas.microsoft.com/office/drawing/2014/main" id="{B542A613-3CAA-1C22-796C-947E868EE450}"/>
              </a:ext>
            </a:extLst>
          </p:cNvPr>
          <p:cNvSpPr txBox="1">
            <a:spLocks/>
          </p:cNvSpPr>
          <p:nvPr/>
        </p:nvSpPr>
        <p:spPr>
          <a:xfrm>
            <a:off x="286536" y="102393"/>
            <a:ext cx="8073692" cy="36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accent1"/>
              </a:buClr>
              <a:buSzPts val="3300"/>
              <a:buFont typeface="Calibri"/>
              <a:buNone/>
            </a:pPr>
            <a:r>
              <a:rPr lang="fr-FR" sz="2000" dirty="0">
                <a:cs typeface="Arial" panose="020B0604020202020204" pitchFamily="34" charset="0"/>
              </a:rPr>
              <a:t>5. Prix moyen de m2 d’une maison en Île-de-France </a:t>
            </a:r>
          </a:p>
        </p:txBody>
      </p:sp>
      <p:pic>
        <p:nvPicPr>
          <p:cNvPr id="3" name="Image 2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097BE306-ECE2-44F5-39EA-82C984BA57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06" t="12222" r="43085" b="52315"/>
          <a:stretch>
            <a:fillRect/>
          </a:stretch>
        </p:blipFill>
        <p:spPr>
          <a:xfrm>
            <a:off x="1395663" y="1066700"/>
            <a:ext cx="6275672" cy="3293562"/>
          </a:xfrm>
          <a:prstGeom prst="rect">
            <a:avLst/>
          </a:prstGeom>
        </p:spPr>
      </p:pic>
      <p:sp>
        <p:nvSpPr>
          <p:cNvPr id="5" name="Google Shape;343;p42">
            <a:extLst>
              <a:ext uri="{FF2B5EF4-FFF2-40B4-BE49-F238E27FC236}">
                <a16:creationId xmlns:a16="http://schemas.microsoft.com/office/drawing/2014/main" id="{2B7CBB05-36F8-D434-72AB-062418AFD8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latin typeface="+mj-lt"/>
                <a:cs typeface="Arial" panose="020B0604020202020204" pitchFamily="34" charset="0"/>
              </a:rPr>
              <a:t>14</a:t>
            </a:fld>
            <a:endParaRPr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47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B49A7D-91B6-66C1-A34C-231FD285C59D}"/>
              </a:ext>
            </a:extLst>
          </p:cNvPr>
          <p:cNvSpPr/>
          <p:nvPr/>
        </p:nvSpPr>
        <p:spPr>
          <a:xfrm>
            <a:off x="0" y="0"/>
            <a:ext cx="9144000" cy="587141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Google Shape;341;p42">
            <a:extLst>
              <a:ext uri="{FF2B5EF4-FFF2-40B4-BE49-F238E27FC236}">
                <a16:creationId xmlns:a16="http://schemas.microsoft.com/office/drawing/2014/main" id="{7677C0E7-D6FB-A30C-7685-57E6F4AFFF8C}"/>
              </a:ext>
            </a:extLst>
          </p:cNvPr>
          <p:cNvSpPr txBox="1">
            <a:spLocks/>
          </p:cNvSpPr>
          <p:nvPr/>
        </p:nvSpPr>
        <p:spPr>
          <a:xfrm>
            <a:off x="277246" y="102393"/>
            <a:ext cx="8589507" cy="339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82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accent1"/>
              </a:buClr>
              <a:buSzPts val="3300"/>
              <a:buFont typeface="Calibri"/>
              <a:buNone/>
            </a:pPr>
            <a:r>
              <a:rPr lang="fr-FR" sz="2400" dirty="0">
                <a:cs typeface="Arial" panose="020B0604020202020204" pitchFamily="34" charset="0"/>
              </a:rPr>
              <a:t>6. Liste des 10 appartements les plus chers avec la région et le nombre en m2</a:t>
            </a:r>
          </a:p>
        </p:txBody>
      </p:sp>
      <p:pic>
        <p:nvPicPr>
          <p:cNvPr id="16" name="Image 15" descr="Une image contenant texte, logiciel, Icône d’ordinateur, Page web&#10;&#10;Le contenu généré par l’IA peut être incorrect.">
            <a:extLst>
              <a:ext uri="{FF2B5EF4-FFF2-40B4-BE49-F238E27FC236}">
                <a16:creationId xmlns:a16="http://schemas.microsoft.com/office/drawing/2014/main" id="{B4E8DE74-CAF6-0D5F-4442-A50754AEB1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98" t="12125" r="34149" b="26804"/>
          <a:stretch>
            <a:fillRect/>
          </a:stretch>
        </p:blipFill>
        <p:spPr>
          <a:xfrm>
            <a:off x="1818457" y="1019334"/>
            <a:ext cx="5323487" cy="3728156"/>
          </a:xfrm>
          <a:prstGeom prst="rect">
            <a:avLst/>
          </a:prstGeom>
        </p:spPr>
      </p:pic>
      <p:sp>
        <p:nvSpPr>
          <p:cNvPr id="3" name="Google Shape;343;p42">
            <a:extLst>
              <a:ext uri="{FF2B5EF4-FFF2-40B4-BE49-F238E27FC236}">
                <a16:creationId xmlns:a16="http://schemas.microsoft.com/office/drawing/2014/main" id="{4C1A9144-D880-60D3-BAD5-E589A1484F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latin typeface="+mj-lt"/>
                <a:cs typeface="Arial" panose="020B0604020202020204" pitchFamily="34" charset="0"/>
              </a:rPr>
              <a:t>15</a:t>
            </a:fld>
            <a:endParaRPr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34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35CD6C3-8E9B-8F88-8C1C-ED7A8424BD37}"/>
              </a:ext>
            </a:extLst>
          </p:cNvPr>
          <p:cNvSpPr/>
          <p:nvPr/>
        </p:nvSpPr>
        <p:spPr>
          <a:xfrm>
            <a:off x="0" y="0"/>
            <a:ext cx="9144000" cy="664143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Google Shape;341;p42">
            <a:extLst>
              <a:ext uri="{FF2B5EF4-FFF2-40B4-BE49-F238E27FC236}">
                <a16:creationId xmlns:a16="http://schemas.microsoft.com/office/drawing/2014/main" id="{A54C26E1-71A7-DD7A-E835-35413437AC3D}"/>
              </a:ext>
            </a:extLst>
          </p:cNvPr>
          <p:cNvSpPr txBox="1">
            <a:spLocks/>
          </p:cNvSpPr>
          <p:nvPr/>
        </p:nvSpPr>
        <p:spPr>
          <a:xfrm>
            <a:off x="313368" y="115503"/>
            <a:ext cx="7909568" cy="358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accent1"/>
              </a:buClr>
              <a:buSzPts val="3300"/>
              <a:buFont typeface="Calibri"/>
              <a:buNone/>
            </a:pPr>
            <a:r>
              <a:rPr lang="fr-FR" sz="2000" dirty="0">
                <a:cs typeface="Arial" panose="020B0604020202020204" pitchFamily="34" charset="0"/>
              </a:rPr>
              <a:t>7. Taux d’évolution du nombre de ventes entre le T1 et le T2 en 2020</a:t>
            </a:r>
          </a:p>
        </p:txBody>
      </p:sp>
      <p:sp>
        <p:nvSpPr>
          <p:cNvPr id="3" name="Google Shape;343;p42">
            <a:extLst>
              <a:ext uri="{FF2B5EF4-FFF2-40B4-BE49-F238E27FC236}">
                <a16:creationId xmlns:a16="http://schemas.microsoft.com/office/drawing/2014/main" id="{6B2FB09D-A3C5-9ED9-2F1A-68BC61B6B69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latin typeface="+mj-lt"/>
                <a:cs typeface="Arial" panose="020B0604020202020204" pitchFamily="34" charset="0"/>
              </a:rPr>
              <a:t>16</a:t>
            </a:fld>
            <a:endParaRPr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6" name="Image 5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CBC2D2CB-84B1-C8E7-1BAC-4FB6B205D0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977" t="13838" r="15637" b="56101"/>
          <a:stretch>
            <a:fillRect/>
          </a:stretch>
        </p:blipFill>
        <p:spPr>
          <a:xfrm>
            <a:off x="1396288" y="1336706"/>
            <a:ext cx="6351424" cy="205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25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4812CA3-16C9-FA9A-1013-19DD9CD1BBED}"/>
              </a:ext>
            </a:extLst>
          </p:cNvPr>
          <p:cNvSpPr/>
          <p:nvPr/>
        </p:nvSpPr>
        <p:spPr>
          <a:xfrm>
            <a:off x="0" y="0"/>
            <a:ext cx="9144000" cy="57751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Google Shape;341;p42">
            <a:extLst>
              <a:ext uri="{FF2B5EF4-FFF2-40B4-BE49-F238E27FC236}">
                <a16:creationId xmlns:a16="http://schemas.microsoft.com/office/drawing/2014/main" id="{C3684570-B3A4-9188-57D0-D0125D0F0457}"/>
              </a:ext>
            </a:extLst>
          </p:cNvPr>
          <p:cNvSpPr txBox="1">
            <a:spLocks/>
          </p:cNvSpPr>
          <p:nvPr/>
        </p:nvSpPr>
        <p:spPr>
          <a:xfrm>
            <a:off x="247598" y="155356"/>
            <a:ext cx="8390215" cy="300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7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accent1"/>
              </a:buClr>
              <a:buSzPts val="3300"/>
              <a:buFont typeface="Calibri"/>
              <a:buNone/>
            </a:pPr>
            <a:r>
              <a:rPr lang="fr-FR" sz="2000" dirty="0">
                <a:cs typeface="Arial" panose="020B0604020202020204" pitchFamily="34" charset="0"/>
              </a:rPr>
              <a:t>8. Classement des régions par prix au m2 </a:t>
            </a:r>
            <a:r>
              <a:rPr lang="fr-FR" sz="1600" dirty="0">
                <a:cs typeface="Arial" panose="020B0604020202020204" pitchFamily="34" charset="0"/>
              </a:rPr>
              <a:t>(appartement &gt; 4 pièces)</a:t>
            </a:r>
            <a:endParaRPr lang="fr-FR" sz="2000" dirty="0">
              <a:cs typeface="Arial" panose="020B0604020202020204" pitchFamily="34" charset="0"/>
            </a:endParaRPr>
          </a:p>
        </p:txBody>
      </p:sp>
      <p:sp>
        <p:nvSpPr>
          <p:cNvPr id="2" name="Google Shape;343;p42">
            <a:extLst>
              <a:ext uri="{FF2B5EF4-FFF2-40B4-BE49-F238E27FC236}">
                <a16:creationId xmlns:a16="http://schemas.microsoft.com/office/drawing/2014/main" id="{3F2B069B-2AE8-C35A-0122-34752E9668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latin typeface="+mj-lt"/>
                <a:cs typeface="Arial" panose="020B0604020202020204" pitchFamily="34" charset="0"/>
              </a:rPr>
              <a:t>17</a:t>
            </a:fld>
            <a:endParaRPr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20" name="Image 19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3E303293-9EB3-980E-176F-82E33AB542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08" t="13509" r="38666" b="18104"/>
          <a:stretch>
            <a:fillRect/>
          </a:stretch>
        </p:blipFill>
        <p:spPr>
          <a:xfrm>
            <a:off x="2078405" y="921842"/>
            <a:ext cx="4706753" cy="406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61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B79D6D7-DEB4-FCBF-2736-D59920300ABE}"/>
              </a:ext>
            </a:extLst>
          </p:cNvPr>
          <p:cNvSpPr/>
          <p:nvPr/>
        </p:nvSpPr>
        <p:spPr>
          <a:xfrm>
            <a:off x="0" y="0"/>
            <a:ext cx="9144000" cy="567891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Google Shape;341;p42">
            <a:extLst>
              <a:ext uri="{FF2B5EF4-FFF2-40B4-BE49-F238E27FC236}">
                <a16:creationId xmlns:a16="http://schemas.microsoft.com/office/drawing/2014/main" id="{7BA76949-AED3-30B9-7C79-C9564590E7C6}"/>
              </a:ext>
            </a:extLst>
          </p:cNvPr>
          <p:cNvSpPr txBox="1">
            <a:spLocks/>
          </p:cNvSpPr>
          <p:nvPr/>
        </p:nvSpPr>
        <p:spPr>
          <a:xfrm>
            <a:off x="197865" y="114375"/>
            <a:ext cx="7915720" cy="339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accent1"/>
              </a:buClr>
              <a:buSzPts val="3300"/>
              <a:buFont typeface="Calibri"/>
              <a:buNone/>
            </a:pPr>
            <a:r>
              <a:rPr lang="fr-FR" sz="2000" dirty="0">
                <a:cs typeface="Arial" panose="020B0604020202020204" pitchFamily="34" charset="0"/>
              </a:rPr>
              <a:t>9. Communes ayant eu au moins  50 ventes au 1</a:t>
            </a:r>
            <a:r>
              <a:rPr lang="fr-FR" sz="2000" baseline="30000" dirty="0">
                <a:cs typeface="Arial" panose="020B0604020202020204" pitchFamily="34" charset="0"/>
              </a:rPr>
              <a:t>er</a:t>
            </a:r>
            <a:r>
              <a:rPr lang="fr-FR" sz="2000" dirty="0">
                <a:cs typeface="Arial" panose="020B0604020202020204" pitchFamily="34" charset="0"/>
              </a:rPr>
              <a:t> trimestre 2020</a:t>
            </a:r>
          </a:p>
        </p:txBody>
      </p:sp>
      <p:sp>
        <p:nvSpPr>
          <p:cNvPr id="3" name="Google Shape;343;p42">
            <a:extLst>
              <a:ext uri="{FF2B5EF4-FFF2-40B4-BE49-F238E27FC236}">
                <a16:creationId xmlns:a16="http://schemas.microsoft.com/office/drawing/2014/main" id="{7017F590-90B1-495D-20FB-1BB5DF869D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latin typeface="+mj-lt"/>
                <a:cs typeface="Arial" panose="020B0604020202020204" pitchFamily="34" charset="0"/>
              </a:rPr>
              <a:t>18</a:t>
            </a:fld>
            <a:endParaRPr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6" name="Image 5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F85447F6-71B6-ED48-49AD-4AC868A456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10" t="13474" r="36317" b="15041"/>
          <a:stretch>
            <a:fillRect/>
          </a:stretch>
        </p:blipFill>
        <p:spPr>
          <a:xfrm>
            <a:off x="2391567" y="708105"/>
            <a:ext cx="3576096" cy="429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884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690AAD-2759-6CAA-85B7-C4E8704335DC}"/>
              </a:ext>
            </a:extLst>
          </p:cNvPr>
          <p:cNvSpPr/>
          <p:nvPr/>
        </p:nvSpPr>
        <p:spPr>
          <a:xfrm>
            <a:off x="0" y="0"/>
            <a:ext cx="9144000" cy="587141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Google Shape;341;p42">
            <a:extLst>
              <a:ext uri="{FF2B5EF4-FFF2-40B4-BE49-F238E27FC236}">
                <a16:creationId xmlns:a16="http://schemas.microsoft.com/office/drawing/2014/main" id="{3F860324-645A-2BDD-A5CD-652651CCF1A1}"/>
              </a:ext>
            </a:extLst>
          </p:cNvPr>
          <p:cNvSpPr txBox="1">
            <a:spLocks/>
          </p:cNvSpPr>
          <p:nvPr/>
        </p:nvSpPr>
        <p:spPr>
          <a:xfrm>
            <a:off x="226741" y="134754"/>
            <a:ext cx="6249917" cy="319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600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accent1"/>
              </a:buClr>
              <a:buSzPts val="3300"/>
              <a:buFont typeface="Calibri"/>
              <a:buNone/>
            </a:pPr>
            <a:r>
              <a:rPr lang="fr-FR" dirty="0">
                <a:cs typeface="Arial" panose="020B0604020202020204" pitchFamily="34" charset="0"/>
              </a:rPr>
              <a:t>10. Différence de prix au m2 entre appartement T2 et T3</a:t>
            </a:r>
          </a:p>
        </p:txBody>
      </p:sp>
      <p:pic>
        <p:nvPicPr>
          <p:cNvPr id="24" name="Image 23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A75651DD-287D-BA17-651D-9B9EA825B4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37" t="15041" r="30737" b="44302"/>
          <a:stretch>
            <a:fillRect/>
          </a:stretch>
        </p:blipFill>
        <p:spPr>
          <a:xfrm>
            <a:off x="681872" y="878008"/>
            <a:ext cx="7780256" cy="3387483"/>
          </a:xfrm>
          <a:prstGeom prst="rect">
            <a:avLst/>
          </a:prstGeom>
        </p:spPr>
      </p:pic>
      <p:sp>
        <p:nvSpPr>
          <p:cNvPr id="3" name="Google Shape;343;p42">
            <a:extLst>
              <a:ext uri="{FF2B5EF4-FFF2-40B4-BE49-F238E27FC236}">
                <a16:creationId xmlns:a16="http://schemas.microsoft.com/office/drawing/2014/main" id="{BB33CF87-65E9-C129-A655-925E76A12E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latin typeface="+mj-lt"/>
                <a:cs typeface="Arial" panose="020B0604020202020204" pitchFamily="34" charset="0"/>
              </a:rPr>
              <a:t>19</a:t>
            </a:fld>
            <a:endParaRPr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34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E8DBBEF-EE8D-B9AB-EAAA-916288E4555A}"/>
              </a:ext>
            </a:extLst>
          </p:cNvPr>
          <p:cNvSpPr/>
          <p:nvPr/>
        </p:nvSpPr>
        <p:spPr>
          <a:xfrm>
            <a:off x="0" y="0"/>
            <a:ext cx="9144000" cy="77363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Google Shape;341;p42">
            <a:extLst>
              <a:ext uri="{FF2B5EF4-FFF2-40B4-BE49-F238E27FC236}">
                <a16:creationId xmlns:a16="http://schemas.microsoft.com/office/drawing/2014/main" id="{C10861A4-A847-2608-ECFD-C84D12097438}"/>
              </a:ext>
            </a:extLst>
          </p:cNvPr>
          <p:cNvSpPr txBox="1">
            <a:spLocks/>
          </p:cNvSpPr>
          <p:nvPr/>
        </p:nvSpPr>
        <p:spPr>
          <a:xfrm>
            <a:off x="390370" y="155356"/>
            <a:ext cx="7780615" cy="462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600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accent1"/>
              </a:buClr>
              <a:buSzPts val="3300"/>
              <a:buFont typeface="Calibri"/>
              <a:buNone/>
            </a:pPr>
            <a:r>
              <a:rPr lang="fr-FR" dirty="0">
                <a:cs typeface="Arial" panose="020B0604020202020204" pitchFamily="34" charset="0"/>
              </a:rPr>
              <a:t>11. Moyennes de valeurs foncières pour le top 3 des communes </a:t>
            </a:r>
            <a:r>
              <a:rPr lang="fr-FR" sz="3000" dirty="0">
                <a:cs typeface="Arial" panose="020B0604020202020204" pitchFamily="34" charset="0"/>
              </a:rPr>
              <a:t>(</a:t>
            </a:r>
            <a:r>
              <a:rPr lang="fr-FR" sz="2700" dirty="0">
                <a:cs typeface="Arial" panose="020B0604020202020204" pitchFamily="34" charset="0"/>
              </a:rPr>
              <a:t>Département 6, 13, 33, 59, 69)</a:t>
            </a:r>
            <a:endParaRPr lang="fr-FR" dirty="0">
              <a:cs typeface="Arial" panose="020B0604020202020204" pitchFamily="34" charset="0"/>
            </a:endParaRPr>
          </a:p>
        </p:txBody>
      </p:sp>
      <p:pic>
        <p:nvPicPr>
          <p:cNvPr id="26" name="Image 25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F905D244-B2F1-6B32-B94E-6DF8051C84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51" t="17283" r="31412" b="15256"/>
          <a:stretch>
            <a:fillRect/>
          </a:stretch>
        </p:blipFill>
        <p:spPr>
          <a:xfrm>
            <a:off x="1848876" y="928986"/>
            <a:ext cx="5331570" cy="3910457"/>
          </a:xfrm>
          <a:prstGeom prst="rect">
            <a:avLst/>
          </a:prstGeom>
        </p:spPr>
      </p:pic>
      <p:sp>
        <p:nvSpPr>
          <p:cNvPr id="3" name="Google Shape;343;p42">
            <a:extLst>
              <a:ext uri="{FF2B5EF4-FFF2-40B4-BE49-F238E27FC236}">
                <a16:creationId xmlns:a16="http://schemas.microsoft.com/office/drawing/2014/main" id="{702819D9-8FA7-0175-E637-84EB733831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latin typeface="+mj-lt"/>
                <a:cs typeface="Arial" panose="020B0604020202020204" pitchFamily="34" charset="0"/>
              </a:rPr>
              <a:t>20</a:t>
            </a:fld>
            <a:endParaRPr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587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1C268B-93F3-BCDA-94FB-AEFF852BBF57}"/>
              </a:ext>
            </a:extLst>
          </p:cNvPr>
          <p:cNvSpPr/>
          <p:nvPr/>
        </p:nvSpPr>
        <p:spPr>
          <a:xfrm>
            <a:off x="0" y="0"/>
            <a:ext cx="9144000" cy="77363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Google Shape;341;p42">
            <a:extLst>
              <a:ext uri="{FF2B5EF4-FFF2-40B4-BE49-F238E27FC236}">
                <a16:creationId xmlns:a16="http://schemas.microsoft.com/office/drawing/2014/main" id="{AD007126-0AE6-BE93-8646-B77C0AD6B092}"/>
              </a:ext>
            </a:extLst>
          </p:cNvPr>
          <p:cNvSpPr txBox="1">
            <a:spLocks/>
          </p:cNvSpPr>
          <p:nvPr/>
        </p:nvSpPr>
        <p:spPr>
          <a:xfrm>
            <a:off x="390370" y="155356"/>
            <a:ext cx="8612953" cy="462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accent1"/>
              </a:buClr>
              <a:buSzPts val="3300"/>
              <a:buFont typeface="Calibri"/>
              <a:buNone/>
            </a:pPr>
            <a:r>
              <a:rPr lang="fr-FR" sz="2000" dirty="0">
                <a:cs typeface="Arial" panose="020B0604020202020204" pitchFamily="34" charset="0"/>
              </a:rPr>
              <a:t>12. Les 20 communes avec le plus de transactions pour 1000 habitants </a:t>
            </a:r>
          </a:p>
          <a:p>
            <a:pPr>
              <a:spcBef>
                <a:spcPts val="0"/>
              </a:spcBef>
              <a:buClr>
                <a:schemeClr val="accent1"/>
              </a:buClr>
              <a:buSzPts val="3300"/>
              <a:buFont typeface="Calibri"/>
              <a:buNone/>
            </a:pPr>
            <a:r>
              <a:rPr lang="fr-FR" sz="1600" dirty="0">
                <a:cs typeface="Arial" panose="020B0604020202020204" pitchFamily="34" charset="0"/>
              </a:rPr>
              <a:t>pour communes dépassant les 10 000 habitants</a:t>
            </a:r>
          </a:p>
        </p:txBody>
      </p:sp>
      <p:pic>
        <p:nvPicPr>
          <p:cNvPr id="30" name="Image 29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91610166-39AF-DE0A-3C89-F2B278D7C3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41" t="11116" r="42945" b="11304"/>
          <a:stretch>
            <a:fillRect/>
          </a:stretch>
        </p:blipFill>
        <p:spPr>
          <a:xfrm>
            <a:off x="2715530" y="928986"/>
            <a:ext cx="3712940" cy="4029150"/>
          </a:xfrm>
          <a:prstGeom prst="rect">
            <a:avLst/>
          </a:prstGeom>
        </p:spPr>
      </p:pic>
      <p:sp>
        <p:nvSpPr>
          <p:cNvPr id="3" name="Google Shape;343;p42">
            <a:extLst>
              <a:ext uri="{FF2B5EF4-FFF2-40B4-BE49-F238E27FC236}">
                <a16:creationId xmlns:a16="http://schemas.microsoft.com/office/drawing/2014/main" id="{638CCF9F-D3BE-7D1D-6D6B-D98ADE90F9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latin typeface="+mj-lt"/>
                <a:cs typeface="Arial" panose="020B0604020202020204" pitchFamily="34" charset="0"/>
              </a:rPr>
              <a:t>21</a:t>
            </a:fld>
            <a:endParaRPr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5221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7586</TotalTime>
  <Words>488</Words>
  <Application>Microsoft Office PowerPoint</Application>
  <PresentationFormat>Affichage à l'écran (16:9)</PresentationFormat>
  <Paragraphs>100</Paragraphs>
  <Slides>21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8" baseType="lpstr">
      <vt:lpstr>Courier New</vt:lpstr>
      <vt:lpstr>Aptos Display</vt:lpstr>
      <vt:lpstr>Calibri</vt:lpstr>
      <vt:lpstr>Arial</vt:lpstr>
      <vt:lpstr>Aptos</vt:lpstr>
      <vt:lpstr>Wingdings</vt:lpstr>
      <vt:lpstr>Thème Office</vt:lpstr>
      <vt:lpstr>Création et utilisation de la base de données Analyse du marché immobilier et démographique         Josy ELICES-DIEZ</vt:lpstr>
      <vt:lpstr>Contexte du projet</vt:lpstr>
      <vt:lpstr>La stratégie de sauvegarde et la conformité RGPD</vt:lpstr>
      <vt:lpstr>Les données initiales</vt:lpstr>
      <vt:lpstr>L’extrait du dictionnaire des données</vt:lpstr>
      <vt:lpstr>Le schéma relationnel normalisé</vt:lpstr>
      <vt:lpstr>La BDD avec tables créées et données chargées</vt:lpstr>
      <vt:lpstr>Les requêtes qui permettent de démontrer le chargement des données</vt:lpstr>
      <vt:lpstr>Requêtes SQL et résultats</vt:lpstr>
      <vt:lpstr>1. Nombre total d’appartements vendus au 1er semestre 2020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xavier ELICES-DIEZ</dc:creator>
  <cp:lastModifiedBy>xavier ELICES-DIEZ</cp:lastModifiedBy>
  <cp:revision>11</cp:revision>
  <dcterms:modified xsi:type="dcterms:W3CDTF">2026-01-06T12:51:46Z</dcterms:modified>
</cp:coreProperties>
</file>